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AUTORIZADA · CENÁRIO FICTÍCIO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Simulação de Engenharia Social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146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A — Spear Phishing (E-mail)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3429000"/>
            <a:ext cx="8046720" cy="18288"/>
          </a:xfrm>
          <a:prstGeom prst="rect">
            <a:avLst/>
          </a:prstGeom>
          <a:solidFill>
            <a:srgbClr val="3A468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7033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é enviado a pessoas reais.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 fictício, RoE assinada antes de qualquer contato — reconhecimento, pretexto, roteiro e ciclo de ataque aplicados ao Modelo A.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989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Offensive: Pentest &amp; Red Team  ·  Trabalho de Pós-Graduação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 Caldas dos Santos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 da simulação e Regras de Engajamento (RoE)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 escopo assinado, nada é executado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733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002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simulado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0195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prática acontece em ambiente simulado — nunca contra pessoas reais sem consentimento.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86584"/>
            <a:ext cx="11064240" cy="0"/>
          </a:xfrm>
          <a:prstGeom prst="line">
            <a:avLst/>
          </a:prstGeom>
          <a:noFill/>
          <a:ln w="12700">
            <a:solidFill>
              <a:srgbClr val="E1E5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5694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4963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 prévia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79806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e Regras de Engajamento (RoE) assinados antes de qualquer reconhecimento ou contato.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11064240" cy="0"/>
          </a:xfrm>
          <a:prstGeom prst="line">
            <a:avLst/>
          </a:prstGeom>
          <a:noFill/>
          <a:ln w="12700">
            <a:solidFill>
              <a:srgbClr val="E1E5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46557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39242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 fictício, sem dano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69417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 personagens são fictícios. Sem exposição pública e sem constranger quem "caísse" no teste.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178808"/>
            <a:ext cx="11064240" cy="0"/>
          </a:xfrm>
          <a:prstGeom prst="line">
            <a:avLst/>
          </a:prstGeom>
          <a:noFill/>
          <a:ln w="12700">
            <a:solidFill>
              <a:srgbClr val="E1E5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3616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361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428853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exercício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59028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phishing simulada — um dos três formatos vistos em aula, ao lado de vishing/pretexting e red team humano.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074920"/>
            <a:ext cx="11064240" cy="0"/>
          </a:xfrm>
          <a:prstGeom prst="line">
            <a:avLst/>
          </a:prstGeom>
          <a:noFill/>
          <a:ln w="12700">
            <a:solidFill>
              <a:srgbClr val="E1E5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257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51846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em conscientização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54864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 em medição e treinamento, não em pegadinha.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autorizada de engenharia social · Alvo fictício · RoE respeitado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fictício do ataque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6492240" cy="4892040"/>
          </a:xfrm>
          <a:prstGeom prst="rect">
            <a:avLst>
              <a:gd name="adj" fmla="val 1495"/>
            </a:avLst>
          </a:prstGeom>
          <a:solidFill>
            <a:srgbClr val="F7F8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5087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920240"/>
            <a:ext cx="5760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NortePay Soluções Financeiras (fictícia) está trocando o ERP financeiro por uma plataforma em nuvem, com a consultoria CloudFin.</a:t>
            </a:r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projeto real dentro da empresa — vira o gancho: qualquer e-mail sobre "validação" ou "novo sistema" soa normal para quem está na área financeira agora.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1605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5262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Renata Souza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Analista Fiscal, 3 anos de casa. Cuida da apuração de obrigações fiscais, o que a torna um alvo certo para um pretexto financeiro.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269480" y="1234440"/>
            <a:ext cx="4343400" cy="1417320"/>
          </a:xfrm>
          <a:prstGeom prst="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43800" y="1435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70992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 phishing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269480" y="2926080"/>
            <a:ext cx="4343400" cy="1417320"/>
          </a:xfrm>
          <a:prstGeom prst="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543800" y="3127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543800" y="34015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E-mail corporativo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269480" y="4617720"/>
            <a:ext cx="4343400" cy="1417320"/>
          </a:xfrm>
          <a:prstGeom prst="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43800" y="4818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ESTÁGIO DO CICLO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543800" y="509320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 (engajamento)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autorizada de engenharia social · Alvo fictício · RoE respeitado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Reconhecimento — achados públicos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dado coletado em fontes abertas (OSINT) alimenta diretamente o pretexto do e-mail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10996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977640" y="1371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360920" y="137160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NO PRETEXTO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977640" y="1810512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Renata mostra cargo (Analista Fiscal) e 3 anos de casa.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360920" y="1810512"/>
            <a:ext cx="4160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escolher o alvo certo no financeiro.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11109960" cy="896112"/>
          </a:xfrm>
          <a:prstGeom prst="rect">
            <a:avLst/>
          </a:prstGeom>
          <a:solidFill>
            <a:srgbClr val="EDF0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2706624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 de emprego publicada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977640" y="2706624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 cita apoio à migração para o novo ERP financeiro em nuvem.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2706624"/>
            <a:ext cx="4160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gancho de contexto real ("novo sistema").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602736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do CIO no LinkedIn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3602736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 comemora a parceria com a "CloudFin Consultoria".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3602736"/>
            <a:ext cx="4160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nome de fornecedor real dá legitimidade ao remetente.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443984"/>
            <a:ext cx="11109960" cy="896112"/>
          </a:xfrm>
          <a:prstGeom prst="rect">
            <a:avLst/>
          </a:prstGeom>
          <a:solidFill>
            <a:srgbClr val="EDF0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4498848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institucional / rodapé de e-mails em PDF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977640" y="4498848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de endereço: nome.sobrenome@nortepay.com.br.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4498848"/>
            <a:ext cx="4160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forjar domínio look-alike (nortepay-corp.com).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539496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"Cultura" do site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977640" y="5394960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divulgado: 9h às 18h.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5394960"/>
            <a:ext cx="4160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define a janela de urgência (prazo até o fim do expediente).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autorizada de engenharia social · Alvo fictício · RoE respeitado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Vetor escolhido e gatilho psicológico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49240" cy="3977640"/>
          </a:xfrm>
          <a:prstGeom prst="rect">
            <a:avLst>
              <a:gd name="adj" fmla="val 1839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572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8745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 phishing por e-mail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663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escrita para Renata Souza — não um disparo em massa. Usa o vocabulário da migração de ERP que ela já acompanha.</a:t>
            </a:r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look-alike no remetente e o nome de um fornecedor real (CloudFin) para reduzir a desconfiança.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280160"/>
            <a:ext cx="5440680" cy="3977640"/>
          </a:xfrm>
          <a:prstGeom prst="rect">
            <a:avLst>
              <a:gd name="adj" fmla="val 1839"/>
            </a:avLst>
          </a:prstGeom>
          <a:solidFill>
            <a:srgbClr val="F7F8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37960" y="15727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 DE CIALDINI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8745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Autoridade + Urgência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537960" y="26060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60604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remetente se passa pela TI/Diretoria, reforçado pelo nome da CloudFin — reduz o questionamento da instrução.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37960" y="3520440"/>
            <a:ext cx="384048" cy="384048"/>
          </a:xfrm>
          <a:prstGeom prst="ellipse">
            <a:avLst/>
          </a:prstGeom>
          <a:solidFill>
            <a:srgbClr val="FF6B1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352044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Urgência: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até 18h e ameaça de bloqueio das obrigações fiscais — pressiona a agir sem checar o link.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45262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funciona: Autoridade + Urgência + contexto real (a migração de ERP).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autorizada de engenharia social · Alvo fictício · RoE respeitado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Pretexto e roteiro — mensagem exata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e-mail usado na simulação (link é um placeholder — nada é enviado de verdade)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109960" cy="4846320"/>
          </a:xfrm>
          <a:prstGeom prst="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D9D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11109960" cy="384048"/>
          </a:xfrm>
          <a:prstGeom prst="rect">
            <a:avLst/>
          </a:prstGeom>
          <a:solidFill>
            <a:srgbClr val="E9ECF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444752"/>
            <a:ext cx="146304" cy="146304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1444752"/>
            <a:ext cx="146304" cy="146304"/>
          </a:xfrm>
          <a:prstGeom prst="ellipse">
            <a:avLst/>
          </a:prstGeom>
          <a:solidFill>
            <a:srgbClr val="FFC02E"/>
          </a:solidFill>
          <a:ln/>
        </p:spPr>
      </p:sp>
      <p:sp>
        <p:nvSpPr>
          <p:cNvPr id="8" name="Shape 6"/>
          <p:cNvSpPr/>
          <p:nvPr/>
        </p:nvSpPr>
        <p:spPr>
          <a:xfrm>
            <a:off x="1197864" y="1444752"/>
            <a:ext cx="146304" cy="146304"/>
          </a:xfrm>
          <a:prstGeom prst="ellipse">
            <a:avLst/>
          </a:prstGeom>
          <a:solidFill>
            <a:srgbClr val="28C9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9659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De: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19659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ti.suporte@nortepay-corp.com  (domínio look-alike de nortepay.com.br)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29514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Para: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2295144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renata.souza@nortepay.com.br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262432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Assunto: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26243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[Ação necessária] Validação de acesso — Migração ERP até 18h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2999232"/>
            <a:ext cx="10515600" cy="0"/>
          </a:xfrm>
          <a:prstGeom prst="line">
            <a:avLst/>
          </a:prstGeom>
          <a:noFill/>
          <a:ln w="12700">
            <a:solidFill>
              <a:srgbClr val="E1E5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3182112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Olá, Renata,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causa da migração para o novo ERP, é preciso revalidar seu acesso ao módulo fiscal no novo portal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hoje às 18h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senão suas obrigações fiscais em aberto ficam bloqueadas até a próxima janela.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[PLACEHOLDER — link de validação do novo portal]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dúvida, responda este e-mail.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Atenciosamente,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de TI — Diretoria Financeira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NortePay Soluções Financeiras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autorizada de engenharia social · Alvo fictício · RoE respeitado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de ataque aplicado ao cenário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606040" cy="4480560"/>
          </a:xfrm>
          <a:prstGeom prst="rect">
            <a:avLst>
              <a:gd name="adj" fmla="val 2807"/>
            </a:avLst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FF6B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Investigação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249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2148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LinkedIn, vaga de emprego, post do CIO e site da NortePay: monta o perfil de Renata e o pretexto da migração de ERP.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32918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1417320"/>
            <a:ext cx="2606040" cy="4480560"/>
          </a:xfrm>
          <a:prstGeom prst="rect">
            <a:avLst>
              <a:gd name="adj" fmla="val 2807"/>
            </a:avLst>
          </a:prstGeom>
          <a:solidFill>
            <a:srgbClr val="F7F8FC"/>
          </a:solidFill>
          <a:ln/>
        </p:spPr>
      </p:sp>
      <p:sp>
        <p:nvSpPr>
          <p:cNvPr id="11" name="Shape 9"/>
          <p:cNvSpPr/>
          <p:nvPr/>
        </p:nvSpPr>
        <p:spPr>
          <a:xfrm>
            <a:off x="3611880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118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27249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3063240"/>
            <a:ext cx="2148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do e-mail com domínio look-alike, explorando autoridade (TI/Diretoria) e urgência (prazo até 18h).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989320" y="32918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17920" y="1417320"/>
            <a:ext cx="2606040" cy="4480560"/>
          </a:xfrm>
          <a:prstGeom prst="rect">
            <a:avLst>
              <a:gd name="adj" fmla="val 2807"/>
            </a:avLst>
          </a:prstGeom>
          <a:solidFill>
            <a:srgbClr val="1E2761"/>
          </a:solidFill>
          <a:ln/>
        </p:spPr>
      </p:sp>
      <p:sp>
        <p:nvSpPr>
          <p:cNvPr id="18" name="Shape 16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rgbClr val="FF6B1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Iniciar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27249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EXPLORAÇÃO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3063240"/>
            <a:ext cx="2148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simulação, clique e preenchimento no portal de teste viram apenas métrica — nenhum dado real é coletado.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823960" y="32918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052560" y="1417320"/>
            <a:ext cx="2606040" cy="4480560"/>
          </a:xfrm>
          <a:prstGeom prst="rect">
            <a:avLst>
              <a:gd name="adj" fmla="val 2807"/>
            </a:avLst>
          </a:prstGeom>
          <a:solidFill>
            <a:srgbClr val="F7F8FC"/>
          </a:solidFill>
          <a:ln/>
        </p:spPr>
      </p:sp>
      <p:sp>
        <p:nvSpPr>
          <p:cNvPr id="25" name="Shape 23"/>
          <p:cNvSpPr/>
          <p:nvPr/>
        </p:nvSpPr>
        <p:spPr>
          <a:xfrm>
            <a:off x="9281160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2811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281160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Saída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281160" y="27249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DESVINCULAÇÃO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281160" y="3063240"/>
            <a:ext cx="2148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mostra confirmação genérica ("solicitação recebida") e encerra o contato sem levantar suspeita.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autorizada de engenharia social · Alvo fictício · RoE respeitado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Encerramento e conscientização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nunca é expor quem "caiu" — é medir, treinar e fortalecer o processo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120640" cy="1691640"/>
          </a:xfrm>
          <a:prstGeom prst="rect">
            <a:avLst>
              <a:gd name="adj" fmla="val 4324"/>
            </a:avLst>
          </a:prstGeom>
          <a:solidFill>
            <a:srgbClr val="141B4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da simulação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65176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clique, taxa de reporte (a mais importante) e tempo até reportar.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2057400"/>
            <a:ext cx="5120640" cy="1691640"/>
          </a:xfrm>
          <a:prstGeom prst="rect">
            <a:avLst>
              <a:gd name="adj" fmla="val 4324"/>
            </a:avLst>
          </a:prstGeom>
          <a:solidFill>
            <a:srgbClr val="141B4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4652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exposição individual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65176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que caiu no teste é identificado ou exposto — RoE proíbe constrangimento e dano.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023360"/>
            <a:ext cx="5120640" cy="1691640"/>
          </a:xfrm>
          <a:prstGeom prst="rect">
            <a:avLst>
              <a:gd name="adj" fmla="val 4324"/>
            </a:avLst>
          </a:prstGeom>
          <a:solidFill>
            <a:srgbClr val="141B4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sem punição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461772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fácil para reportar; resultado serve para treinar, não para punir.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4023360"/>
            <a:ext cx="5120640" cy="1691640"/>
          </a:xfrm>
          <a:prstGeom prst="rect">
            <a:avLst>
              <a:gd name="adj" fmla="val 4324"/>
            </a:avLst>
          </a:prstGeom>
          <a:solidFill>
            <a:srgbClr val="141B4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46520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em plano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461772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vira plano: onde treinar e o que reforçar, dentro do escopo assinado (RoE).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autorizada de engenharia social · Alvo fictício · RoE respeitado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2026-08-27T22:33:30Z</dcterms:created>
  <dcterms:modified xsi:type="dcterms:W3CDTF">2026-08-27T22:33:30Z</dcterms:modified>
</cp:coreProperties>
</file>